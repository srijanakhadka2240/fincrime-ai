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1" r:id="rId13"/>
  </p:sldIdLst>
  <p:sldSz cx="9144000" cy="5143500" type="screen16x9"/>
  <p:notesSz cx="6858000" cy="9144000"/>
  <p:embeddedFontLst>
    <p:embeddedFont>
      <p:font typeface="Google Sans Flex" panose="020B0604020202020204" charset="0"/>
      <p:regular r:id="rId15"/>
      <p:bold r:id="rId16"/>
    </p:embeddedFont>
    <p:embeddedFont>
      <p:font typeface="Google Sans Flex Medium" panose="020B0604020202020204" charset="0"/>
      <p:regular r:id="rId17"/>
      <p:bold r:id="rId18"/>
    </p:embeddedFont>
    <p:embeddedFont>
      <p:font typeface="Google Sans Flex SemiBold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/>
              <a:t>Detection recall by typology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%</c:v>
                </c:pt>
              </c:strCache>
            </c:strRef>
          </c:tx>
          <c:spPr>
            <a:solidFill>
              <a:srgbClr val="1A73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Structuring</c:v>
                </c:pt>
                <c:pt idx="1">
                  <c:v>Pass-through</c:v>
                </c:pt>
                <c:pt idx="2">
                  <c:v>High-risk geo</c:v>
                </c:pt>
                <c:pt idx="3">
                  <c:v>Velocity / mule</c:v>
                </c:pt>
                <c:pt idx="4">
                  <c:v>Dormant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2A-4912-AFFC-82006D76B9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rijanakhadka2240/Fincrime-AI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latin typeface="Google Sans Flex"/>
              </a:rPr>
              <a:t>FinCrime AI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latin typeface="Google Sans Flex"/>
              </a:rPr>
              <a:t>Srijana Khadka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800" b="0">
                <a:latin typeface="Google Sans Flex"/>
              </a:rPr>
              <a:t>Analysts are buried in rule-generated alerts and spend hours writing up each case by hand, so financial crime is detected late and reported slowly.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176" y="1097280"/>
            <a:ext cx="85953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Google Sans Flex"/>
              </a:rPr>
              <a:t>Problem. </a:t>
            </a:r>
            <a:r>
              <a:rPr sz="1300" b="0">
                <a:solidFill>
                  <a:srgbClr val="1F2937"/>
                </a:solidFill>
                <a:latin typeface="Google Sans Flex"/>
              </a:rPr>
              <a:t>Banks and wallet providers generate thousands of monitoring alerts. Analysts must pull transaction history, judge whether activity is suspicious, and draft a suspicious transaction report (STR) for each one. It is slow, inconsistent, and hard to explain to a regulator.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Google Sans Flex"/>
              </a:rPr>
              <a:t>Idea. </a:t>
            </a:r>
            <a:r>
              <a:rPr sz="1300" b="0">
                <a:solidFill>
                  <a:srgbClr val="1F2937"/>
                </a:solidFill>
                <a:latin typeface="Google Sans Flex"/>
              </a:rPr>
              <a:t>FinCrime AI keeps an explainable rules engine for detection and uses Gemini to turn every alert into an investigation brief and a draft STR narrative, grounded only in the flagged transactions. The analyst reviews, asks follow-up questions and decides: escalate, monitor or close.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0040" y="274320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6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AML / fraud typologies detected with transaction-level evidence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68880" y="274320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Real-time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screening of each new transaction, re-scoring the customer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617720" y="274320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1 click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Gemini investigation brief + draft STR narrative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766560" y="274320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Human-in-
the-loop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analyst decides; every step logged in Firestore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500"/>
              </a:spcAft>
              <a:buSzPts val="1300"/>
              <a:buFont typeface="Google Sans Flex"/>
              <a:buChar char="●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How different is it? </a:t>
            </a:r>
            <a:r>
              <a:rPr sz="1300" b="0">
                <a:latin typeface="Google Sans Flex"/>
              </a:rPr>
              <a:t>Most monitoring tools stop at "alert raised". FinCrime AI also explains the alert, cites the exact transactions, and drafts the report, so analysts start from a brief, not a blank page.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500"/>
              </a:spcAft>
              <a:buSzPts val="1300"/>
              <a:buFont typeface="Google Sans Flex"/>
              <a:buChar char="●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How does it solve the problem? </a:t>
            </a:r>
            <a:r>
              <a:rPr sz="1300" b="0">
                <a:latin typeface="Google Sans Flex"/>
              </a:rPr>
              <a:t>Rules give consistent, auditable detection. Gemini compresses investigation time by summarising evidence, suggesting innocent explanations to check, and drafting the STR narrative.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500"/>
              </a:spcAft>
              <a:buSzPts val="1300"/>
              <a:buFont typeface="Google Sans Flex"/>
              <a:buChar char="●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USP: explainable AI for compliance. </a:t>
            </a:r>
            <a:r>
              <a:rPr sz="1300" b="0">
                <a:latin typeface="Google Sans Flex"/>
              </a:rPr>
              <a:t>Gemini only sees structured case evidence and must cite transaction IDs; it recommends, the human decides. Configurable thresholds (NPR) and a full audit timeline.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20040" y="3246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240280" y="3246120"/>
            <a:ext cx="3200400" cy="292608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oogle Sans Flex"/>
              </a:rPr>
              <a:t>Typical rules-only monitoring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32120" y="3246120"/>
            <a:ext cx="3291840" cy="292608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oogle Sans Flex"/>
              </a:rPr>
              <a:t>FinCrime AI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040" y="3593591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Google Sans Flex"/>
              </a:rPr>
              <a:t>Output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240280" y="3593591"/>
            <a:ext cx="32004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Alert + score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532120" y="3593591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Alert + evidence + AI brief + draft STR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" y="3959352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Google Sans Flex"/>
              </a:rPr>
              <a:t>Explainability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240280" y="3959352"/>
            <a:ext cx="32004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Rule name only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32120" y="395935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Per-rule evidence with transaction IDs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0040" y="4325112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Google Sans Flex"/>
              </a:rPr>
              <a:t>Analyst workload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240280" y="4325112"/>
            <a:ext cx="320040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Manual write-up for every case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32120" y="432511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Review and edit an AI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20040" y="11887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Rules engine, 6 typologies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Structuring, rapid pass-through, high-risk countries, mule velocity, dormant reactivation, profile mismatch.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00400" y="11887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Real-time screening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Submit a transaction; customer is re-scored in milliseconds and a case is opened or updated.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080759" y="11887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Evidence-based risk score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0-100 score with severity bands; every hit lists the triggering transactions.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0040" y="29718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Gemini case analysis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Summary, typology, red flags citing IDs, innocent explanations, recommended action.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0" y="29718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Draft STR narrative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One-click draft report narrative for analyst review and copy.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80759" y="29718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Case copilot + workflow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Ask Gemini questions about a case; escalate, monitor or close with a full audit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20040" y="1417320"/>
            <a:ext cx="1508760" cy="1828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F2937"/>
                </a:solidFill>
                <a:latin typeface="Google Sans Flex"/>
              </a:rPr>
              <a:t>1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Google Sans Flex"/>
              </a:rPr>
              <a:t>Transactions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New and historical transactions arrive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1828800" y="21488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2084831" y="1417320"/>
            <a:ext cx="1508760" cy="1828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Google Sans Flex"/>
              </a:rPr>
              <a:t>2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Google Sans Flex"/>
              </a:rPr>
              <a:t>Rules engine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6 typologies, score 0-100, evidence IDs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3593591" y="21488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3849624" y="1417320"/>
            <a:ext cx="1508760" cy="1828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F2937"/>
                </a:solidFill>
                <a:latin typeface="Google Sans Flex"/>
              </a:rPr>
              <a:t>3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Google Sans Flex"/>
              </a:rPr>
              <a:t>Case in Firestore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Alert ≥ 25 opens or updates a case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5358383" y="21488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614416" y="1417320"/>
            <a:ext cx="1508760" cy="1828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Google Sans Flex"/>
              </a:rPr>
              <a:t>4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Google Sans Flex"/>
              </a:rPr>
              <a:t>Gemini analysis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Brief, red flags, recommendation, draft STR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7123175" y="21488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7379208" y="1417320"/>
            <a:ext cx="1508760" cy="1828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F2937"/>
                </a:solidFill>
                <a:latin typeface="Google Sans Flex"/>
              </a:rPr>
              <a:t>5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Google Sans Flex"/>
              </a:rPr>
              <a:t>Analyst decides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Escalate, monitor or close; audit logged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20040" y="352044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Google Sans Flex"/>
              </a:rPr>
              <a:t>Feedback loop: </a:t>
            </a:r>
            <a:r>
              <a:rPr sz="1200" b="0">
                <a:solidFill>
                  <a:srgbClr val="1F2937"/>
                </a:solidFill>
                <a:latin typeface="Google Sans Flex"/>
              </a:rPr>
              <a:t>analyst decisions and notes are stored on the case, and each new transaction re-scores the customer, so a case grows as evidence accumulates.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" y="4297680"/>
            <a:ext cx="8503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Google Sans Flex"/>
              </a:rPr>
              <a:t>Use-case actors: Compliance analyst (reviews cases), Compliance manager (monitors queue and escalations), System (screens transactions).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3716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Google Sans Flex"/>
              </a:rPr>
              <a:t>Analyst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Web dashboard (browser)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1783080" y="16916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2084831" y="1371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Google Sans Flex"/>
              </a:rPr>
              <a:t>Firebase Hosting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HTTPS front door, rewrite to Cloud Run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3730752" y="16916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4023360" y="1188720"/>
            <a:ext cx="2331720" cy="28346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oogle Sans Flex"/>
              </a:rPr>
              <a:t>Cloud Run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AEC8F5"/>
                </a:solidFill>
                <a:latin typeface="Google Sans Flex"/>
              </a:rPr>
              <a:t>Node.js service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• Rules engine (6 typologies)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• Real-time screening API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• Case workflow + audit log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Google Sans Flex"/>
              </a:rPr>
              <a:t>• Gemini client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6400800" y="169164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6702552" y="11887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Google Sans Flex"/>
              </a:rPr>
              <a:t>Cloud Firestore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customers · transactions · cases (AI analysis, timeline)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5074920" y="4041648"/>
            <a:ext cx="256032" cy="228600"/>
          </a:xfrm>
          <a:prstGeom prst="down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6702552" y="269748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Google Sans Flex"/>
              </a:rPr>
              <a:t>Gemini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gemini-2.5-flash via Vertex AI: structured JSON analysis, STR draft, copilot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6400800" y="3108960"/>
            <a:ext cx="228600" cy="256032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4023360" y="4297680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B82"/>
                </a:solidFill>
                <a:latin typeface="Google Sans Flex"/>
              </a:rPr>
              <a:t>Service account: Datastore User + Vertex AI User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20040" y="274320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Google Sans Flex"/>
              </a:rPr>
              <a:t>Design choices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• Zero npm dependencies; Google REST APIs only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• Firestore rules deny all direct client access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• Graceful fallback: in-memory store / offline template, labelled in the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20040" y="1188720"/>
            <a:ext cx="2377440" cy="585216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oogle Sans Flex"/>
              </a:rPr>
              <a:t>Cloud Run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88920" y="1188720"/>
            <a:ext cx="6035040" cy="58521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Hosts the API and dashboard container; autoscaling; runs as a least-privilege service account.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0040" y="1847088"/>
            <a:ext cx="2377440" cy="585216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oogle Sans Flex"/>
              </a:rPr>
              <a:t>Firestore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88920" y="1847088"/>
            <a:ext cx="6035040" cy="58521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System of record for customers, transactions and cases, including AI analysis and audit timeline.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" y="2505456"/>
            <a:ext cx="2377440" cy="585216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oogle Sans Flex"/>
              </a:rPr>
              <a:t>Firebase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788920" y="2505456"/>
            <a:ext cx="6035040" cy="58521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Hosting fronts Cloud Run over HTTPS; Firestore security rules deployed with the Firebase CLI.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20040" y="3163824"/>
            <a:ext cx="2377440" cy="585216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oogle Sans Flex"/>
              </a:rPr>
              <a:t>Gemini (gemini-2.5-flash)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88920" y="3163824"/>
            <a:ext cx="6035040" cy="58521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Structured case analysis, draft STR narrative and case copilot, grounded in case evidence.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20040" y="3822191"/>
            <a:ext cx="2377440" cy="585216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oogle Sans Flex"/>
              </a:rPr>
              <a:t>Node.js 22, vanilla JS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788920" y="3822191"/>
            <a:ext cx="6035040" cy="58521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Dependency-free backend and single-page dashboard; Docker for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das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188720"/>
            <a:ext cx="4160520" cy="2647604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320040" y="3882043"/>
            <a:ext cx="4160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Alert queue, risk scores and case detail with rule evidence</a:t>
            </a:r>
          </a:p>
        </p:txBody>
      </p:sp>
      <p:pic>
        <p:nvPicPr>
          <p:cNvPr id="138" name="Picture 137" descr="scree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4160520" cy="284667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663440" y="4081111"/>
            <a:ext cx="4160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Google Sans Flex"/>
              </a:rPr>
              <a:t>Live transaction screening: score change, decision and latency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B82"/>
                </a:solidFill>
                <a:latin typeface="Google Sans Flex"/>
              </a:rPr>
              <a:t>Screenshots from a local run on synthetic data. The deployed prototype uses the same UI backed by Firestore and Gemini.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320040" y="1143000"/>
          <a:ext cx="4846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5" name="Rounded Rectangle 144"/>
          <p:cNvSpPr/>
          <p:nvPr/>
        </p:nvSpPr>
        <p:spPr>
          <a:xfrm>
            <a:off x="5349240" y="118872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100%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Precision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086600" y="118872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98%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Recall (392 of 400)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349240" y="26974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False positives in 1,200 customers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086600" y="26974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1A73E8"/>
                </a:solidFill>
                <a:latin typeface="Google Sans Flex"/>
              </a:rPr>
              <a:t>0.07 ms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Google Sans Flex"/>
              </a:rPr>
              <a:t>Median scoring time per customer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040" y="4297680"/>
            <a:ext cx="85039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Google Sans Flex"/>
              </a:rPr>
              <a:t>Method: 20 random seeds x 60 synthetic customers (~18,000 transactions), with 5 typologies injected (20% deliberately evasive) and 4 legitimate large-business decoys per run. Labels are hidden from the engine. Because the data is synthetic and matches the rule typologies, this is a sanity benchmark, not a claim of real-world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20040" y="11887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Next 30 days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Firebase Auth with analyst / manager roles and maker-checker approval; configurable thresholds and country lists in the UI; export STR drafts in the regulator filing format.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00400" y="11887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Next 90 days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Customer network graph to link mule accounts; BigQuery ML anomaly scoring alongside rules; sanctions and PEP screening; feedback from analyst decisions to tune rules.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80759" y="11887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Google Sans Flex"/>
              </a:rPr>
              <a:t>Pilot readiness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Google Sans Flex"/>
              </a:rPr>
              <a:t>Connect to real core-banking / wallet feeds, run a back-test on labelled historical cases, and validate thresholds with the institution's compliance policy and local regulation.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20040" y="3657600"/>
            <a:ext cx="8503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Google Sans Flex"/>
              </a:rPr>
              <a:t>Responsible AI. </a:t>
            </a:r>
            <a:r>
              <a:rPr sz="1150" b="0">
                <a:solidFill>
                  <a:srgbClr val="1F2937"/>
                </a:solidFill>
                <a:latin typeface="Google Sans Flex"/>
              </a:rPr>
              <a:t>Gemini is constrained to supplied evidence, labels its output as a draft, never files reports automatically, and falls back to a labelled template if unavailable. All data in this prototype is synthetic.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>
              <a:buSzPts val="1400"/>
              <a:buFont typeface="Google Sans Flex Medium"/>
              <a:buChar char="●"/>
            </a:pPr>
            <a:r>
              <a:rPr lang="en-GB" b="1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</a:t>
            </a:r>
            <a:r>
              <a:rPr lang="en-US" sz="1300" dirty="0">
                <a:solidFill>
                  <a:srgbClr val="D93025"/>
                </a:solidFill>
                <a:latin typeface="Google Sans Flex"/>
              </a:rPr>
              <a:t>https://github.com/Srijanakhadka2240/Fincrime-AI</a:t>
            </a:r>
            <a:endParaRPr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>
              <a:buSzPts val="1400"/>
              <a:buFont typeface="Google Sans Flex Medium"/>
              <a:buChar char="●"/>
            </a:pPr>
            <a:r>
              <a:rPr lang="en-GB" b="1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</a:t>
            </a:r>
            <a:r>
              <a:rPr lang="en-US" sz="1300" dirty="0">
                <a:solidFill>
                  <a:srgbClr val="D93025"/>
                </a:solidFill>
                <a:latin typeface="Google Sans Flex"/>
                <a:hlinkClick r:id="rId5"/>
              </a:rPr>
              <a:t>https://</a:t>
            </a:r>
            <a:r>
              <a:rPr lang="en-US" sz="1300" dirty="0" smtClean="0">
                <a:solidFill>
                  <a:srgbClr val="D93025"/>
                </a:solidFill>
                <a:latin typeface="Google Sans Flex"/>
                <a:hlinkClick r:id="rId5"/>
              </a:rPr>
              <a:t>github.com/Srijanakhadka2240/Fincrime-AI</a:t>
            </a:r>
            <a:endParaRPr lang="en-US" sz="1300" dirty="0" smtClean="0">
              <a:solidFill>
                <a:srgbClr val="D93025"/>
              </a:solidFill>
              <a:latin typeface="Google Sans Flex"/>
            </a:endParaRPr>
          </a:p>
          <a:p>
            <a:pPr marL="457200" lvl="0" indent="-317500">
              <a:buSzPts val="1400"/>
              <a:buFont typeface="Google Sans Flex Medium"/>
              <a:buChar char="●"/>
            </a:pPr>
            <a:r>
              <a:rPr lang="en-GB" b="1" dirty="0" smtClean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</a:t>
            </a:r>
            <a:r>
              <a:rPr lang="en-GB" b="1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Product Link: </a:t>
            </a:r>
            <a:r>
              <a:rPr lang="en-US" sz="1300" dirty="0">
                <a:solidFill>
                  <a:srgbClr val="D93025"/>
                </a:solidFill>
                <a:latin typeface="Google Sans Flex"/>
              </a:rPr>
              <a:t>https://github.com/Srijanakhadka2240/Fincrime-AI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20040" y="2834640"/>
            <a:ext cx="85039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Google Sans Flex"/>
              </a:rPr>
              <a:t>Replace the red text with your live links before submitting, then test each one in a private/incognito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On-screen Show (16:9)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Google Sans Flex</vt:lpstr>
      <vt:lpstr>Arial</vt:lpstr>
      <vt:lpstr>Google Sans Flex Medium</vt:lpstr>
      <vt:lpstr>Google Sans Flex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Lenovo</cp:lastModifiedBy>
  <cp:revision>1</cp:revision>
  <dcterms:modified xsi:type="dcterms:W3CDTF">2026-10-18T07:16:29Z</dcterms:modified>
</cp:coreProperties>
</file>